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06b4d403c94be7" /><Relationship Type="http://schemas.openxmlformats.org/officeDocument/2006/relationships/extended-properties" Target="/docProps/app.xml" Id="R8b58b2f78d784d48" /><Relationship Type="http://schemas.openxmlformats.org/officeDocument/2006/relationships/officeDocument" Target="/ppt/presentation.xml" Id="R9f0115a9b02f43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a462513d7d45f9"/>
  </p:sldMasterIdLst>
  <p:notesMasterIdLst>
    <p:notesMasterId xmlns:r="http://schemas.openxmlformats.org/officeDocument/2006/relationships" r:id="Rb76e0dce2d864449"/>
  </p:notesMasterIdLst>
  <p:sldIdLst>
    <p:sldId xmlns:r="http://schemas.openxmlformats.org/officeDocument/2006/relationships" id="256" r:id="R1f23d09a439e42df"/>
    <p:sldId xmlns:r="http://schemas.openxmlformats.org/officeDocument/2006/relationships" id="257" r:id="R5f731b13d2284b08"/>
    <p:sldId xmlns:r="http://schemas.openxmlformats.org/officeDocument/2006/relationships" id="258" r:id="R4586f998b06945d7"/>
    <p:sldId xmlns:r="http://schemas.openxmlformats.org/officeDocument/2006/relationships" id="259" r:id="R286e38e5713d4692"/>
    <p:sldId xmlns:r="http://schemas.openxmlformats.org/officeDocument/2006/relationships" id="260" r:id="Rd215a20e3f024295"/>
    <p:sldId xmlns:r="http://schemas.openxmlformats.org/officeDocument/2006/relationships" id="261" r:id="R8f754df348e54c82"/>
    <p:sldId xmlns:r="http://schemas.openxmlformats.org/officeDocument/2006/relationships" id="262" r:id="R887d785c385f41b4"/>
    <p:sldId xmlns:r="http://schemas.openxmlformats.org/officeDocument/2006/relationships" id="263" r:id="R2600efecd03646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e16d6b47044dc9" /><Relationship Type="http://schemas.openxmlformats.org/officeDocument/2006/relationships/slideMaster" Target="/ppt/slideMasters/slideMaster1.xml" Id="R66a462513d7d45f9" /><Relationship Type="http://schemas.openxmlformats.org/officeDocument/2006/relationships/notesMaster" Target="/ppt/notesMasters/notesMaster1.xml" Id="Rb76e0dce2d864449" /><Relationship Type="http://schemas.openxmlformats.org/officeDocument/2006/relationships/presProps" Target="/ppt/presProps.xml" Id="R8c344291a40f40c3" /><Relationship Type="http://schemas.openxmlformats.org/officeDocument/2006/relationships/tableStyles" Target="/ppt/tableStyles.xml" Id="Rd409a1cf99ba42ce" /><Relationship Type="http://schemas.openxmlformats.org/officeDocument/2006/relationships/slide" Target="/ppt/slides/slide1.xml" Id="R1f23d09a439e42df" /><Relationship Type="http://schemas.openxmlformats.org/officeDocument/2006/relationships/slide" Target="/ppt/slides/slide2.xml" Id="R5f731b13d2284b08" /><Relationship Type="http://schemas.openxmlformats.org/officeDocument/2006/relationships/slide" Target="/ppt/slides/slide3.xml" Id="R4586f998b06945d7" /><Relationship Type="http://schemas.openxmlformats.org/officeDocument/2006/relationships/slide" Target="/ppt/slides/slide4.xml" Id="R286e38e5713d4692" /><Relationship Type="http://schemas.openxmlformats.org/officeDocument/2006/relationships/slide" Target="/ppt/slides/slide5.xml" Id="Rd215a20e3f024295" /><Relationship Type="http://schemas.openxmlformats.org/officeDocument/2006/relationships/slide" Target="/ppt/slides/slide6.xml" Id="R8f754df348e54c82" /><Relationship Type="http://schemas.openxmlformats.org/officeDocument/2006/relationships/slide" Target="/ppt/slides/slide7.xml" Id="R887d785c385f41b4" /><Relationship Type="http://schemas.openxmlformats.org/officeDocument/2006/relationships/slide" Target="/ppt/slides/slide8.xml" Id="R2600efecd03646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61e74447f741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e6bd94687b44aa" /><Relationship Type="http://schemas.openxmlformats.org/officeDocument/2006/relationships/notesMaster" Target="/ppt/notesMasters/notesMaster1.xml" Id="R1bd7474d176549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82bed11e574729" /><Relationship Type="http://schemas.openxmlformats.org/officeDocument/2006/relationships/notesMaster" Target="/ppt/notesMasters/notesMaster1.xml" Id="R972c91a2ec6945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cb5728f57c4f14" /><Relationship Type="http://schemas.openxmlformats.org/officeDocument/2006/relationships/notesMaster" Target="/ppt/notesMasters/notesMaster1.xml" Id="R1702d414f85c40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627410a42b469d" /><Relationship Type="http://schemas.openxmlformats.org/officeDocument/2006/relationships/notesMaster" Target="/ppt/notesMasters/notesMaster1.xml" Id="R4b0ad1f7436b45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cfffffc391444a" /><Relationship Type="http://schemas.openxmlformats.org/officeDocument/2006/relationships/notesMaster" Target="/ppt/notesMasters/notesMaster1.xml" Id="Rd6cde468fa744c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f4347f2ff34ffb" /><Relationship Type="http://schemas.openxmlformats.org/officeDocument/2006/relationships/notesMaster" Target="/ppt/notesMasters/notesMaster1.xml" Id="R67be877d817e40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41fbb5c1c34600" /><Relationship Type="http://schemas.openxmlformats.org/officeDocument/2006/relationships/notesMaster" Target="/ppt/notesMasters/notesMaster1.xml" Id="R63aaa9f292c643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5769dc0aba4fa8" /><Relationship Type="http://schemas.openxmlformats.org/officeDocument/2006/relationships/notesMaster" Target="/ppt/notesMasters/notesMaster1.xml" Id="R723f123fad1544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Fresh project created September 6, 2026. Developed with Codex assistance. Individual registration.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sample used in the app. No market-size or customer-impact estimate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app workflow in app/page.tsx. Reviewed wording is exported, never automatically published.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app/api/analyze/route.ts and lib/review.ts. Numeric rules apply only to whole, unambiguous quantity 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Lambda Node.js runtime and execution roles: https://docs.aws.amazon.com/lambda/latest/dg/lambda-nodejs.html. Bedrock Converse API: https://docs.aws.amazon.com/bedrock/latest/APIReference/API_runtime_Converse.html. Actual stack listingproof-bedrock-20260906.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evaluation/results.json. AWS CLI used the exact application prompt and shared validator. Twenty synthetic cases authored during development, not blind or independently labeled. No request failures. A later multi-claim sample exposed variability; simple quantity comparisons were made deterministic afterward.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VALIDATION.md records an initial full-app sample abstention on equivalent volume, followed by a correct repeat and a deterministic quantity fix. Exact quotes prove provenance, not semantic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prototype: https://listingproof.augustusrex.chatgpt.site. Official submission requirements: https://ai-builders-hackathon-2026.devpost.com/rules. Public repository, video, judge access and event community requirement remain submission tasks.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3b899e5ca45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6c2d8dbdf64e94" /><Relationship Type="http://schemas.openxmlformats.org/officeDocument/2006/relationships/slideLayout" Target="/ppt/slideLayouts/slideLayout1.xml" Id="R4a5a565e6f854a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5a565e6f854a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b6295007b4c54" /><Relationship Type="http://schemas.openxmlformats.org/officeDocument/2006/relationships/notesSlide" Target="/ppt/notesSlides/notesSlide1.xml" Id="R5048d730327b49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e7741150741d6" /><Relationship Type="http://schemas.openxmlformats.org/officeDocument/2006/relationships/notesSlide" Target="/ppt/notesSlides/notesSlide2.xml" Id="Rf865e7fc710f4d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714650fea45dd" /><Relationship Type="http://schemas.openxmlformats.org/officeDocument/2006/relationships/notesSlide" Target="/ppt/notesSlides/notesSlide3.xml" Id="R14f9a7641f754a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169e7d4814cd0" /><Relationship Type="http://schemas.openxmlformats.org/officeDocument/2006/relationships/notesSlide" Target="/ppt/notesSlides/notesSlide4.xml" Id="Rfd98627986c24b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a50884eec4bca" /><Relationship Type="http://schemas.openxmlformats.org/officeDocument/2006/relationships/notesSlide" Target="/ppt/notesSlides/notesSlide5.xml" Id="R989a9b9b8def43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2f995fc684c0b" /><Relationship Type="http://schemas.openxmlformats.org/officeDocument/2006/relationships/notesSlide" Target="/ppt/notesSlides/notesSlide6.xml" Id="Rde0f02d2e2db44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2889934da44e6" /><Relationship Type="http://schemas.openxmlformats.org/officeDocument/2006/relationships/notesSlide" Target="/ppt/notesSlides/notesSlide7.xml" Id="R1b03fc588b674e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38d9156024eee" /><Relationship Type="http://schemas.openxmlformats.org/officeDocument/2006/relationships/notesSlide" Target="/ppt/notesSlides/notesSlide8.xml" Id="R594294118a2147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632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E03B7-A131-4971-A168-9AC8D734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ListingProof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27546-4ADC-48C7-9EE7-0CFBA612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claims checked against supplier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21AAB-7DBE-4F01-B1D6-1631CAD2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9E5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9E5FF"/>
                </a:solidFill>
                <a:latin typeface="Arial"/>
                <a:ea typeface="Arial"/>
                <a:cs typeface="Arial"/>
              </a:rPr>
              <a:t>AI Builders Hackathon · Fatima Farhana Sheikh</a:t>
            </a:r>
          </a:p>
          <a:p xmlns:a="http://schemas.openxmlformats.org/drawingml/2006/main">
            <a:pPr>
              <a:defRPr sz="1800" b="0">
                <a:solidFill>
                  <a:srgbClr val="E9E5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9E5FF"/>
                </a:solidFill>
                <a:latin typeface="Arial"/>
                <a:ea typeface="Arial"/>
                <a:cs typeface="Arial"/>
              </a:rPr>
              <a:t>Prototype review · 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13831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CB67F-FCB3-4727-A30A-FECF284F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238"/>
                </a:solidFill>
                <a:latin typeface="Arial"/>
                <a:ea typeface="Arial"/>
                <a:cs typeface="Arial"/>
              </a:rPr>
              <a:t>A listing can overstate the specification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667250"/>
                <a:gridCol w="30099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Listing claim</a:t>
                      </a:r>
                    </a:p>
                  </a:txBody>
                  <a:tcPr marL="91440" marR="91440" marT="45720" marB="45720">
                    <a:solidFill>
                      <a:srgbClr val="4632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Supplier evidence</a:t>
                      </a:r>
                    </a:p>
                  </a:txBody>
                  <a:tcPr marL="91440" marR="91440" marT="45720" marB="45720">
                    <a:solidFill>
                      <a:srgbClr val="4632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Finding</a:t>
                      </a:r>
                    </a:p>
                  </a:txBody>
                  <a:tcPr marL="91440" marR="91440" marT="45720" marB="45720">
                    <a:solidFill>
                      <a:srgbClr val="4632A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238"/>
                          </a:solidFill>
                          <a:latin typeface="Arial"/>
                          <a:ea typeface="Arial"/>
                          <a:cs typeface="Arial"/>
                        </a:rPr>
                        <a:t>100% cotton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238"/>
                          </a:solidFill>
                          <a:latin typeface="Arial"/>
                          <a:ea typeface="Arial"/>
                          <a:cs typeface="Arial"/>
                        </a:rPr>
                        <a:t>60% cotton, 40% polyester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238"/>
                          </a:solidFill>
                          <a:latin typeface="Arial"/>
                          <a:ea typeface="Arial"/>
                          <a:cs typeface="Arial"/>
                        </a:rPr>
                        <a:t>Contradicted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238"/>
                          </a:solidFill>
                          <a:latin typeface="Arial"/>
                          <a:ea typeface="Arial"/>
                          <a:cs typeface="Arial"/>
                        </a:rPr>
                        <a:t>Certified organic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238"/>
                          </a:solidFill>
                          <a:latin typeface="Arial"/>
                          <a:ea typeface="Arial"/>
                          <a:cs typeface="Arial"/>
                        </a:rPr>
                        <a:t>No certificate supplied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238"/>
                          </a:solidFill>
                          <a:latin typeface="Arial"/>
                          <a:ea typeface="Arial"/>
                          <a:cs typeface="Arial"/>
                        </a:rPr>
                        <a:t>Unsupported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238"/>
                          </a:solidFill>
                          <a:latin typeface="Arial"/>
                          <a:ea typeface="Arial"/>
                          <a:cs typeface="Arial"/>
                        </a:rPr>
                        <a:t>Capacity: 500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238"/>
                          </a:solidFill>
                          <a:latin typeface="Arial"/>
                          <a:ea typeface="Arial"/>
                          <a:cs typeface="Arial"/>
                        </a:rPr>
                        <a:t>Capacity: 0.5 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238"/>
                          </a:solidFill>
                          <a:latin typeface="Arial"/>
                          <a:ea typeface="Arial"/>
                          <a:cs typeface="Arial"/>
                        </a:rPr>
                        <a:t>Supported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238"/>
                          </a:solidFill>
                          <a:latin typeface="Arial"/>
                          <a:ea typeface="Arial"/>
                          <a:cs typeface="Arial"/>
                        </a:rPr>
                        <a:t>Pack of 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238"/>
                          </a:solidFill>
                          <a:latin typeface="Arial"/>
                          <a:ea typeface="Arial"/>
                          <a:cs typeface="Arial"/>
                        </a:rPr>
                        <a:t>Pack of 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238"/>
                          </a:solidFill>
                          <a:latin typeface="Arial"/>
                          <a:ea typeface="Arial"/>
                          <a:cs typeface="Arial"/>
                        </a:rPr>
                        <a:t>Contradicted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61556-DC89-4FF7-9FB3-AAF13094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65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57A"/>
                </a:solidFill>
                <a:latin typeface="Arial"/>
                <a:ea typeface="Arial"/>
                <a:cs typeface="Arial"/>
              </a:rPr>
              <a:t>A plausible sentence is not evidence that the claim is true.</a:t>
            </a:r>
          </a:p>
        </p:txBody>
      </p:sp>
    </p:spTree>
    <p:extLst>
      <p:ext uri="{BB962C8B-B14F-4D97-AF65-F5344CB8AC3E}">
        <p14:creationId xmlns:p14="http://schemas.microsoft.com/office/powerpoint/2010/main" val="1472931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FF13A-CA71-4F0B-87F7-0956F38F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238"/>
                </a:solidFill>
                <a:latin typeface="Arial"/>
                <a:ea typeface="Arial"/>
                <a:cs typeface="Arial"/>
              </a:rPr>
              <a:t>The review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F4A0E-3168-40E7-B2A2-05AC7EB8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1  Paste one claim per line and the supplier specification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CC932-BE31-4C15-B4AE-65EC980C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2  Inspect supported, contradicted and unsupported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D0C10-9CA3-4133-9EB5-79A16ED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3  Review exact source wording before including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42501-0663-49C9-B0EB-1432E580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4  Export the draft with its evidence receipt</a:t>
            </a:r>
          </a:p>
        </p:txBody>
      </p:sp>
    </p:spTree>
    <p:extLst>
      <p:ext uri="{BB962C8B-B14F-4D97-AF65-F5344CB8AC3E}">
        <p14:creationId xmlns:p14="http://schemas.microsoft.com/office/powerpoint/2010/main" val="125898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D35CB-C103-4B73-B87E-1E2593A6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238"/>
                </a:solidFill>
                <a:latin typeface="Arial"/>
                <a:ea typeface="Arial"/>
                <a:cs typeface="Arial"/>
              </a:rPr>
              <a:t>What the AI does—and what code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AA0E6-5D6C-4370-9D50-3A6E8553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32A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32A4"/>
                </a:solidFill>
                <a:latin typeface="Arial"/>
                <a:ea typeface="Arial"/>
                <a:cs typeface="Arial"/>
              </a:rPr>
              <a:t>AWS Nova Lite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FA1A6-49D7-46FD-B1F6-D1F712C0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4714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Interprets the relationship between each claim and the supplied specification.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Abstains when evidence is insufficient.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A4E96-A4CE-4B39-B177-54942B7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32A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32A4"/>
                </a:solidFill>
                <a:latin typeface="Arial"/>
                <a:ea typeface="Arial"/>
                <a:cs typeface="Arial"/>
              </a:rPr>
              <a:t>Deterministic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33B37-C2C0-4BAD-9EF6-66744E39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Rejects invented source IDs and quotes.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Normalizes simple volumes and pack counts.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Uses exact source wording for revisions.</a:t>
            </a:r>
          </a:p>
        </p:txBody>
      </p:sp>
    </p:spTree>
    <p:extLst>
      <p:ext uri="{BB962C8B-B14F-4D97-AF65-F5344CB8AC3E}">
        <p14:creationId xmlns:p14="http://schemas.microsoft.com/office/powerpoint/2010/main" val="1743256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0604B-45D6-4F79-AE8D-C2874A2E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238"/>
                </a:solidFill>
                <a:latin typeface="Arial"/>
                <a:ea typeface="Arial"/>
                <a:cs typeface="Arial"/>
              </a:rPr>
              <a:t>AWS access stays on the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A1160-2632-4E2C-805F-E9F1D346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632A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632A4"/>
                </a:solidFill>
                <a:latin typeface="Arial"/>
                <a:ea typeface="Arial"/>
                <a:cs typeface="Arial"/>
              </a:rPr>
              <a:t>Private web app → scoped Lambda → Amazon Bedrock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446B0-520E-4484-99F2-8F50C1A3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The Lambda role can invoke only Nova Lite.</a:t>
            </a:r>
          </a:p>
          <a:p xmlns:a="http://schemas.openxmlformats.org/drawingml/2006/main">
            <a:pPr>
              <a:defRPr sz="240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A server-held token protects the backend endpoint.</a:t>
            </a:r>
          </a:p>
          <a:p xmlns:a="http://schemas.openxmlformats.org/drawingml/2006/main">
            <a:pPr>
              <a:defRPr sz="240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Root credentials never enter the hosted app.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3A0A8-A9FC-4C6E-A627-DED716A2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5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57A"/>
                </a:solidFill>
                <a:latin typeface="Arial"/>
                <a:ea typeface="Arial"/>
                <a:cs typeface="Arial"/>
              </a:rPr>
              <a:t>No automatic posting. Reports remain in the page session until exported.</a:t>
            </a:r>
          </a:p>
        </p:txBody>
      </p:sp>
    </p:spTree>
    <p:extLst>
      <p:ext uri="{BB962C8B-B14F-4D97-AF65-F5344CB8AC3E}">
        <p14:creationId xmlns:p14="http://schemas.microsoft.com/office/powerpoint/2010/main" val="16376360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2473B-CD37-4714-9D71-A329F47C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238"/>
                </a:solidFill>
                <a:latin typeface="Arial"/>
                <a:ea typeface="Arial"/>
                <a:cs typeface="Arial"/>
              </a:rPr>
              <a:t>Initial evaluation: 20 of 20 reference labels matched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96279-5EEC-4E8C-9319-7DD548EA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75" b="1">
                <a:solidFill>
                  <a:srgbClr val="4632A4"/>
                </a:solidFill>
                <a:latin typeface="Arial"/>
                <a:ea typeface="Arial"/>
                <a:cs typeface="Arial"/>
              </a:defRPr>
            </a:pPr>
            <a:r>
              <a:rPr sz="7875" b="1">
                <a:solidFill>
                  <a:srgbClr val="4632A4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A9C90-DD5C-4CC1-8EDE-3EAE8424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561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Real Nova Lite responses</a:t>
            </a:r>
          </a:p>
          <a:p xmlns:a="http://schemas.openxmlformats.org/drawingml/2006/main">
            <a:pPr>
              <a:defRPr sz="225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Development-authored synthetic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185F4-4EC0-4FD9-8703-FFEBC5F7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573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238"/>
                </a:solidFill>
                <a:latin typeface="Arial"/>
                <a:ea typeface="Arial"/>
                <a:cs typeface="Arial"/>
              </a:rPr>
              <a:t>What this establishes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6C549-5F88-4D9A-BB2F-B70A7002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4476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The model handled the chosen contradictions, missing evidence and embedded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It does not establish general accuracy.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6E8D6-F149-4482-81B1-FB937E43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5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57A"/>
                </a:solidFill>
                <a:latin typeface="Arial"/>
                <a:ea typeface="Arial"/>
                <a:cs typeface="Arial"/>
              </a:rPr>
              <a:t>19 local automated checks also pass. Independent user testing is still needed.</a:t>
            </a:r>
          </a:p>
        </p:txBody>
      </p:sp>
    </p:spTree>
    <p:extLst>
      <p:ext uri="{BB962C8B-B14F-4D97-AF65-F5344CB8AC3E}">
        <p14:creationId xmlns:p14="http://schemas.microsoft.com/office/powerpoint/2010/main" val="942800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5E9B4-1DF7-4615-B48E-81994F8F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238"/>
                </a:solidFill>
                <a:latin typeface="Arial"/>
                <a:ea typeface="Arial"/>
                <a:cs typeface="Arial"/>
              </a:rPr>
              <a:t>Known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FC893-2A2B-41CA-A7DE-DE0A2F47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32A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32A4"/>
                </a:solidFill>
                <a:latin typeface="Arial"/>
                <a:ea typeface="Arial"/>
                <a:cs typeface="Arial"/>
              </a:rPr>
              <a:t>Source text can be wrong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63480-4A8A-4359-843D-9D7E62A0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The app checks supplied evidence, not the product itself.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AC143-B41C-4F67-978E-922C0FC9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32A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632A4"/>
                </a:solidFill>
                <a:latin typeface="Arial"/>
                <a:ea typeface="Arial"/>
                <a:cs typeface="Arial"/>
              </a:rPr>
              <a:t>Model conclusions still need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B9170-71F3-4C0B-BFD6-06F02F57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Compound claims, conflicting specifications and manual draft edits require care.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06012-65A6-4399-BCEB-5743C3B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5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57A"/>
                </a:solidFill>
                <a:latin typeface="Arial"/>
                <a:ea typeface="Arial"/>
                <a:cs typeface="Arial"/>
              </a:rPr>
              <a:t>This is an evidence review tool, not a product certification service.</a:t>
            </a:r>
          </a:p>
        </p:txBody>
      </p:sp>
    </p:spTree>
    <p:extLst>
      <p:ext uri="{BB962C8B-B14F-4D97-AF65-F5344CB8AC3E}">
        <p14:creationId xmlns:p14="http://schemas.microsoft.com/office/powerpoint/2010/main" val="2222493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DBC05-BB60-443A-B806-9EED6966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238"/>
                </a:solidFill>
                <a:latin typeface="Arial"/>
                <a:ea typeface="Arial"/>
                <a:cs typeface="Arial"/>
              </a:rPr>
              <a:t>Prototype and submission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229D5-C6AC-4015-A356-A921EC9A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632A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632A4"/>
                </a:solidFill>
                <a:latin typeface="Arial"/>
                <a:ea typeface="Arial"/>
                <a:cs typeface="Arial"/>
              </a:rPr>
              <a:t>listingproof.augustusrex.chatgpt.site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70FD6-3F84-481E-93AB-FCEDF238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47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Source: github.com/dev-pinegrass/listingproof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Live Bedrock prototype is private.</a:t>
            </a:r>
          </a:p>
          <a:p xmlns:a="http://schemas.openxmlformats.org/drawingml/2006/main">
            <a:pPr>
              <a:defRPr sz="2400" b="0">
                <a:solidFill>
                  <a:srgbClr val="202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238"/>
                </a:solidFill>
                <a:latin typeface="Arial"/>
                <a:ea typeface="Arial"/>
                <a:cs typeface="Arial"/>
              </a:rPr>
              <a:t>Remaining: demo video and judge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FE862-26D6-4A0E-8698-22D548D5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57A"/>
                </a:solidFill>
                <a:latin typeface="Arial"/>
                <a:ea typeface="Arial"/>
                <a:cs typeface="Arial"/>
              </a:rPr>
              <a:t>Fresh project · Open-source dependencies disclosed · Built with Codex assistance</a:t>
            </a:r>
          </a:p>
        </p:txBody>
      </p:sp>
    </p:spTree>
    <p:extLst>
      <p:ext uri="{BB962C8B-B14F-4D97-AF65-F5344CB8AC3E}">
        <p14:creationId xmlns:p14="http://schemas.microsoft.com/office/powerpoint/2010/main" val="793816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2026-09-06T10:30:13.5530000Z</dcterms:created>
  <dcterms:modified xsi:type="dcterms:W3CDTF">2026-09-06T10:30:13.5540000Z</dcterms:modified>
</coreProperties>
</file>